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DM Sans" pitchFamily="2" charset="0"/>
      <p:regular r:id="rId16"/>
      <p:bold r:id="rId17"/>
      <p:italic r:id="rId18"/>
      <p:boldItalic r:id="rId19"/>
    </p:embeddedFont>
    <p:embeddedFont>
      <p:font typeface="Merriweather" panose="000005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EF99C8-3F11-4CC9-A3BB-FA730BFA149A}">
  <a:tblStyle styleId="{89EF99C8-3F11-4CC9-A3BB-FA730BFA149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489" y="9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2C2F64EA-149A-A950-465D-52FAB42E7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571499"/>
            <a:ext cx="11049000" cy="571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0127868-4291-663E-B6FC-CDBDDE5AE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273" y="2437783"/>
            <a:ext cx="5239481" cy="4420217"/>
          </a:xfrm>
          <a:prstGeom prst="round2SameRect">
            <a:avLst>
              <a:gd name="adj1" fmla="val 15282"/>
              <a:gd name="adj2" fmla="val 0"/>
            </a:avLst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E8671953-C5F3-300C-55C6-C2A557053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357" y="1112981"/>
            <a:ext cx="8031043" cy="4632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5400" b="1" i="0" u="none" strike="noStrike" cap="none" normalizeH="0" baseline="0" dirty="0">
                <a:ln>
                  <a:noFill/>
                </a:ln>
                <a:solidFill>
                  <a:srgbClr val="F1F5F9"/>
                </a:solidFill>
                <a:effectLst/>
                <a:latin typeface="Merriweather" panose="00000500000000000000" pitchFamily="2" charset="0"/>
              </a:rPr>
              <a:t>Projet 1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5400" b="1" i="0" u="none" strike="noStrike" cap="none" normalizeH="0" baseline="0" dirty="0">
                <a:ln>
                  <a:noFill/>
                </a:ln>
                <a:solidFill>
                  <a:srgbClr val="F1F5F9"/>
                </a:solidFill>
                <a:effectLst/>
                <a:latin typeface="Merriweather" panose="00000500000000000000" pitchFamily="2" charset="0"/>
              </a:rPr>
              <a:t>Détection de Contours</a:t>
            </a:r>
            <a:endParaRPr kumimoji="0" lang="fr-FR" altLang="fr-F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rgbClr val="38BDF8"/>
                </a:solidFill>
                <a:effectLst/>
                <a:latin typeface="DM Sans" pitchFamily="2" charset="0"/>
              </a:rPr>
              <a:t>Traitement d'Images</a:t>
            </a:r>
            <a:endParaRPr kumimoji="0" lang="fr-FR" altLang="fr-F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500" b="0" i="0" u="none" strike="noStrike" cap="none" normalizeH="0" baseline="0" dirty="0">
                <a:ln>
                  <a:noFill/>
                </a:ln>
                <a:solidFill>
                  <a:srgbClr val="94A3B8"/>
                </a:solidFill>
                <a:effectLst/>
                <a:latin typeface="DM Sans" pitchFamily="2" charset="0"/>
              </a:rPr>
              <a:t>10 DÉCEMBRE 2025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500" b="0" i="0" u="none" strike="noStrike" cap="none" normalizeH="0" baseline="0" dirty="0">
                <a:ln>
                  <a:noFill/>
                </a:ln>
                <a:solidFill>
                  <a:srgbClr val="94A3B8"/>
                </a:solidFill>
                <a:effectLst/>
                <a:latin typeface="DM Sans" pitchFamily="2" charset="0"/>
              </a:rPr>
              <a:t>PONTOPARIA Fiona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500" dirty="0">
                <a:solidFill>
                  <a:srgbClr val="94A3B8"/>
                </a:solidFill>
                <a:latin typeface="DM Sans" pitchFamily="2" charset="0"/>
              </a:rPr>
              <a:t>SERRAIN Benoit</a:t>
            </a:r>
            <a:endParaRPr kumimoji="0" lang="fr-FR" altLang="fr-FR" sz="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B34171-A1DF-D5BB-4535-ACFEA564C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C6A1AB9-8E10-0BA0-7799-64A16005D0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475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430809"/>
            <a:ext cx="3492549" cy="29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430809"/>
            <a:ext cx="3492549" cy="29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430809"/>
            <a:ext cx="3492549" cy="29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Objectifs du Projet</a:t>
            </a:r>
            <a:endParaRPr lang="fr-FR" noProof="0" dirty="0"/>
          </a:p>
        </p:txBody>
      </p:sp>
      <p:sp>
        <p:nvSpPr>
          <p:cNvPr id="96" name="Google Shape;96;p14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652617" y="3611909"/>
            <a:ext cx="1330166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Détection</a:t>
            </a:r>
            <a:endParaRPr lang="fr-FR" noProof="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407476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Identifier les contours dans des images en niveaux de gris à l'aide de filtres mathématiques.</a:t>
            </a:r>
            <a:endParaRPr lang="fr-FR" noProof="0"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5100875" y="3611909"/>
            <a:ext cx="1990248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Superposition</a:t>
            </a:r>
            <a:endParaRPr lang="fr-FR" noProof="0"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4645074" y="407476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Superposer les contours détectés à l'image originale pour visualiser la précision.</a:t>
            </a:r>
            <a:endParaRPr lang="fr-FR" noProof="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9324230" y="3611909"/>
            <a:ext cx="110013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Analyse</a:t>
            </a:r>
            <a:endParaRPr lang="fr-FR" noProof="0"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423374" y="4074765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Comparer objectivement les opérateurs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Sobel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Laplacien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et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Canny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fr-FR" noProof="0" dirty="0"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60525" y="2878484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8825" y="2878484"/>
            <a:ext cx="5143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19551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95512"/>
            <a:ext cx="3492549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99" y="2195512"/>
            <a:ext cx="3492549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Protocole de Test</a:t>
            </a:r>
            <a:endParaRPr lang="fr-FR" noProof="0" dirty="0"/>
          </a:p>
        </p:txBody>
      </p:sp>
      <p:sp>
        <p:nvSpPr>
          <p:cNvPr id="113" name="Google Shape;113;p15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5005387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1. Image Naturelle</a:t>
            </a:r>
            <a:br>
              <a:rPr lang="fr-FR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500" b="1" i="0" u="none" strike="noStrike" cap="none" noProof="0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Détails complexes et textures</a:t>
            </a:r>
            <a:endParaRPr lang="fr-FR" noProof="0" dirty="0"/>
          </a:p>
        </p:txBody>
      </p:sp>
      <p:sp>
        <p:nvSpPr>
          <p:cNvPr id="115" name="Google Shape;115;p15"/>
          <p:cNvSpPr txBox="1"/>
          <p:nvPr/>
        </p:nvSpPr>
        <p:spPr>
          <a:xfrm>
            <a:off x="4349799" y="5005387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2. Image Bruitée</a:t>
            </a:r>
            <a:br>
              <a:rPr lang="fr-FR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500" b="1" i="0" u="none" strike="noStrike" cap="none" noProof="0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Test de robustesse</a:t>
            </a:r>
            <a:endParaRPr lang="fr-FR" noProof="0" dirty="0"/>
          </a:p>
        </p:txBody>
      </p:sp>
      <p:sp>
        <p:nvSpPr>
          <p:cNvPr id="116" name="Google Shape;116;p15"/>
          <p:cNvSpPr txBox="1"/>
          <p:nvPr/>
        </p:nvSpPr>
        <p:spPr>
          <a:xfrm>
            <a:off x="8128099" y="5005387"/>
            <a:ext cx="34925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3. Image Géométrique</a:t>
            </a:r>
            <a:br>
              <a:rPr lang="fr-FR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500" b="1" i="0" u="none" strike="noStrike" cap="none" noProof="0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Fort contraste</a:t>
            </a:r>
            <a:endParaRPr lang="fr-FR" noProof="0" dirty="0"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90550" y="2214562"/>
            <a:ext cx="34544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68849" y="2214562"/>
            <a:ext cx="3454449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47149" y="2214562"/>
            <a:ext cx="3454449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Méthode 1 : Filtre de </a:t>
            </a:r>
            <a:r>
              <a:rPr lang="fr-FR" sz="3600" b="1" i="0" u="none" strike="noStrike" cap="none" noProof="0" dirty="0" err="1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Sobel</a:t>
            </a:r>
            <a:endParaRPr lang="fr-FR" noProof="0" dirty="0"/>
          </a:p>
        </p:txBody>
      </p:sp>
      <p:sp>
        <p:nvSpPr>
          <p:cNvPr id="126" name="Google Shape;126;p16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2019300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42950" y="23288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29" name="Google Shape;129;p16"/>
          <p:cNvSpPr txBox="1"/>
          <p:nvPr/>
        </p:nvSpPr>
        <p:spPr>
          <a:xfrm>
            <a:off x="809625" y="2328862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Principe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Approximation du gradient de l'intensité de l'image (dérivée première).</a:t>
            </a:r>
            <a:endParaRPr lang="fr-FR" noProof="0"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742950" y="3081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809625" y="3081337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Opérateurs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Utilise deux noyaux de convolution (3x3) pour détecter les changements horizontaux (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Gx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) et verticaux (Gy).</a:t>
            </a:r>
            <a:endParaRPr lang="fr-FR" noProof="0" dirty="0"/>
          </a:p>
        </p:txBody>
      </p:sp>
      <p:sp>
        <p:nvSpPr>
          <p:cNvPr id="132" name="Google Shape;132;p16"/>
          <p:cNvSpPr txBox="1"/>
          <p:nvPr/>
        </p:nvSpPr>
        <p:spPr>
          <a:xfrm>
            <a:off x="742950" y="41386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33" name="Google Shape;133;p16"/>
          <p:cNvSpPr txBox="1"/>
          <p:nvPr/>
        </p:nvSpPr>
        <p:spPr>
          <a:xfrm>
            <a:off x="809625" y="413861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Calcul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  G  =   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Gx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  2    +    Gy   2    </a:t>
            </a:r>
            <a:endParaRPr lang="fr-FR" noProof="0" dirty="0"/>
          </a:p>
        </p:txBody>
      </p:sp>
      <p:sp>
        <p:nvSpPr>
          <p:cNvPr id="134" name="Google Shape;134;p16"/>
          <p:cNvSpPr txBox="1"/>
          <p:nvPr/>
        </p:nvSpPr>
        <p:spPr>
          <a:xfrm>
            <a:off x="742950" y="4586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35" name="Google Shape;135;p16"/>
          <p:cNvSpPr txBox="1"/>
          <p:nvPr/>
        </p:nvSpPr>
        <p:spPr>
          <a:xfrm>
            <a:off x="809625" y="4586287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Avantage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Simple, rapide, détecte l'orientation.</a:t>
            </a:r>
            <a:endParaRPr lang="fr-FR" noProof="0" dirty="0"/>
          </a:p>
        </p:txBody>
      </p:sp>
      <p:sp>
        <p:nvSpPr>
          <p:cNvPr id="136" name="Google Shape;136;p16"/>
          <p:cNvSpPr txBox="1"/>
          <p:nvPr/>
        </p:nvSpPr>
        <p:spPr>
          <a:xfrm>
            <a:off x="742950" y="5033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809625" y="5033962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Inconvénient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Sensible au bruit, contours parfois épais.</a:t>
            </a:r>
            <a:endParaRPr lang="fr-F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092672"/>
            <a:ext cx="5238750" cy="3625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92672"/>
            <a:ext cx="5238750" cy="362515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Méthodes 2 &amp; 3 : </a:t>
            </a:r>
            <a:r>
              <a:rPr lang="fr-FR" sz="3600" b="1" i="0" u="none" strike="noStrike" cap="none" noProof="0" dirty="0" err="1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Laplacien</a:t>
            </a: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 et </a:t>
            </a:r>
            <a:r>
              <a:rPr lang="fr-FR" sz="3600" b="1" i="0" u="none" strike="noStrike" cap="none" noProof="0" dirty="0" err="1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Canny</a:t>
            </a:r>
            <a:endParaRPr lang="fr-FR" noProof="0" dirty="0"/>
          </a:p>
        </p:txBody>
      </p:sp>
      <p:sp>
        <p:nvSpPr>
          <p:cNvPr id="145" name="Google Shape;145;p17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952500" y="2473672"/>
            <a:ext cx="47005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Filtre </a:t>
            </a:r>
            <a:r>
              <a:rPr lang="fr-FR" sz="2100" b="1" i="0" u="none" strike="noStrike" cap="none" noProof="0" dirty="0" err="1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Laplacien</a:t>
            </a:r>
            <a:endParaRPr lang="fr-FR" noProof="0" dirty="0"/>
          </a:p>
        </p:txBody>
      </p:sp>
      <p:sp>
        <p:nvSpPr>
          <p:cNvPr id="147" name="Google Shape;147;p17"/>
          <p:cNvSpPr txBox="1"/>
          <p:nvPr/>
        </p:nvSpPr>
        <p:spPr>
          <a:xfrm>
            <a:off x="952500" y="2936527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Basé sur la </a:t>
            </a: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dérivée seconde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 l'image. Il cherche les passages par zéro (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zero-crossing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) qui correspondent aux sommets du gradient.</a:t>
            </a:r>
            <a:endParaRPr lang="fr-FR" noProof="0" dirty="0"/>
          </a:p>
        </p:txBody>
      </p:sp>
      <p:sp>
        <p:nvSpPr>
          <p:cNvPr id="148" name="Google Shape;148;p17"/>
          <p:cNvSpPr txBox="1"/>
          <p:nvPr/>
        </p:nvSpPr>
        <p:spPr>
          <a:xfrm>
            <a:off x="952500" y="4250977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Défaut majeur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Extrêmement sensible au bruit. Nécessite souvent un lissage gaussien préalable.</a:t>
            </a:r>
            <a:endParaRPr lang="fr-FR" noProof="0" dirty="0"/>
          </a:p>
        </p:txBody>
      </p:sp>
      <p:sp>
        <p:nvSpPr>
          <p:cNvPr id="149" name="Google Shape;149;p17"/>
          <p:cNvSpPr txBox="1"/>
          <p:nvPr/>
        </p:nvSpPr>
        <p:spPr>
          <a:xfrm>
            <a:off x="6762750" y="2473672"/>
            <a:ext cx="47005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Détecteur de </a:t>
            </a:r>
            <a:r>
              <a:rPr lang="fr-FR" sz="2100" b="1" i="0" u="none" strike="noStrike" cap="none" noProof="0" dirty="0" err="1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Canny</a:t>
            </a:r>
            <a:endParaRPr lang="fr-FR" noProof="0" dirty="0"/>
          </a:p>
        </p:txBody>
      </p:sp>
      <p:sp>
        <p:nvSpPr>
          <p:cNvPr id="150" name="Google Shape;150;p17"/>
          <p:cNvSpPr txBox="1"/>
          <p:nvPr/>
        </p:nvSpPr>
        <p:spPr>
          <a:xfrm>
            <a:off x="6762750" y="2936527"/>
            <a:ext cx="4476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Considéré comme l'algorithme optimal. Il procède en 4 étapes clés :</a:t>
            </a:r>
            <a:endParaRPr lang="fr-FR" noProof="0" dirty="0"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30812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6858000" y="3546127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 lang="fr-FR" noProof="0"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6953250" y="3546127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Lissage Gaussien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(Réduction du bruit)</a:t>
            </a:r>
            <a:endParaRPr lang="fr-FR" noProof="0"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6800850" y="399380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 lang="fr-FR" noProof="0" dirty="0"/>
          </a:p>
        </p:txBody>
      </p:sp>
      <p:sp>
        <p:nvSpPr>
          <p:cNvPr id="155" name="Google Shape;155;p17"/>
          <p:cNvSpPr txBox="1"/>
          <p:nvPr/>
        </p:nvSpPr>
        <p:spPr>
          <a:xfrm>
            <a:off x="6953250" y="3993802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Gradient de </a:t>
            </a: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Sobel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(Intensité &amp; Direction)</a:t>
            </a:r>
            <a:endParaRPr lang="fr-FR" noProof="0"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6800850" y="4441477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 lang="fr-FR" noProof="0" dirty="0"/>
          </a:p>
        </p:txBody>
      </p:sp>
      <p:sp>
        <p:nvSpPr>
          <p:cNvPr id="157" name="Google Shape;157;p17"/>
          <p:cNvSpPr txBox="1"/>
          <p:nvPr/>
        </p:nvSpPr>
        <p:spPr>
          <a:xfrm>
            <a:off x="6953250" y="4441477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Suppression des non-maxima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(Affinement)</a:t>
            </a:r>
            <a:endParaRPr lang="fr-FR" noProof="0" dirty="0"/>
          </a:p>
        </p:txBody>
      </p:sp>
      <p:sp>
        <p:nvSpPr>
          <p:cNvPr id="158" name="Google Shape;158;p17"/>
          <p:cNvSpPr txBox="1"/>
          <p:nvPr/>
        </p:nvSpPr>
        <p:spPr>
          <a:xfrm>
            <a:off x="6800850" y="4889152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4.</a:t>
            </a:r>
            <a:endParaRPr lang="fr-FR" noProof="0" dirty="0"/>
          </a:p>
        </p:txBody>
      </p:sp>
      <p:sp>
        <p:nvSpPr>
          <p:cNvPr id="159" name="Google Shape;159;p17"/>
          <p:cNvSpPr txBox="1"/>
          <p:nvPr/>
        </p:nvSpPr>
        <p:spPr>
          <a:xfrm>
            <a:off x="6953250" y="4889152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Seuillage par hystérésis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(Connexion)</a:t>
            </a:r>
            <a:endParaRPr lang="fr-F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1151632"/>
            <a:ext cx="48006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Résultats : Image Naturelle</a:t>
            </a:r>
            <a:endParaRPr lang="fr-FR" noProof="0"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253454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Sur une image réaliste contenant des textures (visage, paysage) :</a:t>
            </a:r>
            <a:endParaRPr lang="fr-FR" noProof="0"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933450" y="314414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68" name="Google Shape;168;p18"/>
          <p:cNvSpPr txBox="1"/>
          <p:nvPr/>
        </p:nvSpPr>
        <p:spPr>
          <a:xfrm>
            <a:off x="1000125" y="3144142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Sobel</a:t>
            </a: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Détecte les traits principaux mais produit des contours épais et "flous".</a:t>
            </a:r>
            <a:endParaRPr lang="fr-FR" noProof="0" dirty="0"/>
          </a:p>
        </p:txBody>
      </p:sp>
      <p:sp>
        <p:nvSpPr>
          <p:cNvPr id="169" name="Google Shape;169;p18"/>
          <p:cNvSpPr txBox="1"/>
          <p:nvPr/>
        </p:nvSpPr>
        <p:spPr>
          <a:xfrm>
            <a:off x="933450" y="389661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70" name="Google Shape;170;p18"/>
          <p:cNvSpPr txBox="1"/>
          <p:nvPr/>
        </p:nvSpPr>
        <p:spPr>
          <a:xfrm>
            <a:off x="1000125" y="3896617"/>
            <a:ext cx="43338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Laplacien</a:t>
            </a: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Génère beaucoup de "bruit" textural, rendant les contours principaux difficiles à isoler.</a:t>
            </a:r>
            <a:endParaRPr lang="fr-FR" noProof="0"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933450" y="464909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1000125" y="4649092"/>
            <a:ext cx="4333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Canny</a:t>
            </a: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Offre le meilleur résultat. Les contours sont fins (1 pixel), continus et les détails inutiles sont filtrés grâce à l'hystérésis.</a:t>
            </a:r>
            <a:endParaRPr lang="fr-FR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Résultats : Robustesse au Bruit</a:t>
            </a:r>
            <a:endParaRPr lang="fr-FR" noProof="0" dirty="0"/>
          </a:p>
        </p:txBody>
      </p:sp>
      <p:sp>
        <p:nvSpPr>
          <p:cNvPr id="179" name="Google Shape;179;p19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1992659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Impact du Bruit</a:t>
            </a:r>
            <a:endParaRPr lang="fr-FR" noProof="0" dirty="0"/>
          </a:p>
        </p:txBody>
      </p:sp>
      <p:sp>
        <p:nvSpPr>
          <p:cNvPr id="181" name="Google Shape;181;p19"/>
          <p:cNvSpPr txBox="1"/>
          <p:nvPr/>
        </p:nvSpPr>
        <p:spPr>
          <a:xfrm>
            <a:off x="571500" y="245551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Le bruit (pixels aléatoires) crée de fausses variations d'intensité.</a:t>
            </a:r>
            <a:endParaRPr lang="fr-FR" noProof="0" dirty="0"/>
          </a:p>
        </p:txBody>
      </p:sp>
      <p:pic>
        <p:nvPicPr>
          <p:cNvPr id="182" name="Google Shape;182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0" y="2019300"/>
            <a:ext cx="52006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742950" y="325561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84" name="Google Shape;184;p19"/>
          <p:cNvSpPr txBox="1"/>
          <p:nvPr/>
        </p:nvSpPr>
        <p:spPr>
          <a:xfrm>
            <a:off x="809625" y="325561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Échec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Le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Laplacien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réagit fortement à chaque pixel de bruit, créant une image inexploitable.</a:t>
            </a:r>
            <a:endParaRPr lang="fr-FR" noProof="0" dirty="0"/>
          </a:p>
        </p:txBody>
      </p:sp>
      <p:sp>
        <p:nvSpPr>
          <p:cNvPr id="185" name="Google Shape;185;p19"/>
          <p:cNvSpPr txBox="1"/>
          <p:nvPr/>
        </p:nvSpPr>
        <p:spPr>
          <a:xfrm>
            <a:off x="742950" y="400809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86" name="Google Shape;186;p19"/>
          <p:cNvSpPr txBox="1"/>
          <p:nvPr/>
        </p:nvSpPr>
        <p:spPr>
          <a:xfrm>
            <a:off x="809625" y="400809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Réussite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Canny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intègre nativement un flou gaussien, ce qui "lisse" le bruit avant la détection.</a:t>
            </a:r>
            <a:endParaRPr lang="fr-FR" noProof="0" dirty="0"/>
          </a:p>
        </p:txBody>
      </p:sp>
      <p:sp>
        <p:nvSpPr>
          <p:cNvPr id="187" name="Google Shape;187;p19"/>
          <p:cNvSpPr txBox="1"/>
          <p:nvPr/>
        </p:nvSpPr>
        <p:spPr>
          <a:xfrm>
            <a:off x="742950" y="476056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 lang="fr-FR" noProof="0" dirty="0"/>
          </a:p>
        </p:txBody>
      </p:sp>
      <p:sp>
        <p:nvSpPr>
          <p:cNvPr id="188" name="Google Shape;188;p19"/>
          <p:cNvSpPr txBox="1"/>
          <p:nvPr/>
        </p:nvSpPr>
        <p:spPr>
          <a:xfrm>
            <a:off x="809625" y="4760565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Solution :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Pour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Sobel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et </a:t>
            </a:r>
            <a:r>
              <a:rPr lang="fr-FR" sz="1500" b="0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Laplacien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, un pré-traitement (filtre Gaussien ou Médian) est </a:t>
            </a:r>
            <a:r>
              <a:rPr lang="fr-FR" sz="1500" b="0" i="1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obligatoire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sur les images bruitées.</a:t>
            </a:r>
            <a:endParaRPr lang="fr-F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Analyse Comparative</a:t>
            </a:r>
            <a:endParaRPr lang="fr-FR" noProof="0" dirty="0"/>
          </a:p>
        </p:txBody>
      </p:sp>
      <p:sp>
        <p:nvSpPr>
          <p:cNvPr id="194" name="Google Shape;194;p20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20"/>
          <p:cNvGraphicFramePr/>
          <p:nvPr>
            <p:extLst>
              <p:ext uri="{D42A27DB-BD31-4B8C-83A1-F6EECF244321}">
                <p14:modId xmlns:p14="http://schemas.microsoft.com/office/powerpoint/2010/main" val="467161889"/>
              </p:ext>
            </p:extLst>
          </p:nvPr>
        </p:nvGraphicFramePr>
        <p:xfrm>
          <a:off x="571500" y="22621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{89EF99C8-3F11-4CC9-A3BB-FA730BFA149A}</a:tableStyleId>
              </a:tblPr>
              <a:tblGrid>
                <a:gridCol w="2695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>
                          <a:solidFill>
                            <a:srgbClr val="38BDF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Critère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 err="1">
                          <a:solidFill>
                            <a:srgbClr val="38BDF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Sobel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 err="1">
                          <a:solidFill>
                            <a:srgbClr val="38BDF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Laplacien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 err="1">
                          <a:solidFill>
                            <a:srgbClr val="38BDF8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Canny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Complexité Calcul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Faible (Rapide)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Faible (Rapide)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Élevée (Plus lent)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Précision des Bords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 (Épais)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Haute (Loc. précise)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Excellente (1 pixel)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Sensibilité au Bruit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Moyenne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F8717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Très Élevée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4ADE8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Faible</a:t>
                      </a: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(Intégrée)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1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Usage Idéal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Détection d'orientation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Détails fins (si net)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500" b="0" i="0" u="none" strike="noStrike" cap="none" noProof="0" dirty="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Segmentation précise</a:t>
                      </a:r>
                      <a:endParaRPr lang="fr-FR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6" name="Google Shape;196;p20"/>
          <p:cNvSpPr/>
          <p:nvPr/>
        </p:nvSpPr>
        <p:spPr>
          <a:xfrm>
            <a:off x="571500" y="2938462"/>
            <a:ext cx="2695426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3266926" y="2938462"/>
            <a:ext cx="2927746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194673" y="2938462"/>
            <a:ext cx="2614017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8808690" y="2938462"/>
            <a:ext cx="2811809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571500" y="3648075"/>
            <a:ext cx="2695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3266926" y="3648075"/>
            <a:ext cx="2927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6194673" y="3648075"/>
            <a:ext cx="261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8808690" y="3648075"/>
            <a:ext cx="28118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571500" y="4343400"/>
            <a:ext cx="2695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3266926" y="4343400"/>
            <a:ext cx="2927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6194673" y="4343400"/>
            <a:ext cx="261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8808690" y="4343400"/>
            <a:ext cx="28118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71500" y="5038725"/>
            <a:ext cx="26954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3266926" y="5038725"/>
            <a:ext cx="2927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194673" y="5038725"/>
            <a:ext cx="26140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8808690" y="5038725"/>
            <a:ext cx="28118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5875" y="200025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Superposition &amp; Effets (Bonus)</a:t>
            </a:r>
            <a:endParaRPr lang="fr-FR" noProof="0" dirty="0"/>
          </a:p>
        </p:txBody>
      </p:sp>
      <p:sp>
        <p:nvSpPr>
          <p:cNvPr id="218" name="Google Shape;218;p21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381750" y="2385119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Technique de Superposition</a:t>
            </a:r>
            <a:endParaRPr lang="fr-FR" noProof="0" dirty="0"/>
          </a:p>
        </p:txBody>
      </p:sp>
      <p:sp>
        <p:nvSpPr>
          <p:cNvPr id="220" name="Google Shape;220;p21"/>
          <p:cNvSpPr txBox="1"/>
          <p:nvPr/>
        </p:nvSpPr>
        <p:spPr>
          <a:xfrm>
            <a:off x="6381750" y="284797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Pour valider la détection, nous créons un masque binaire des contours (blanc sur noir). Ce masque est superposé à l'image source en utilisant le canal Alpha (transparence) ou une opération d'addition de pixels (cv2.addWeighted).</a:t>
            </a:r>
            <a:endParaRPr lang="fr-FR" noProof="0" dirty="0"/>
          </a:p>
        </p:txBody>
      </p:sp>
      <p:sp>
        <p:nvSpPr>
          <p:cNvPr id="221" name="Google Shape;221;p21"/>
          <p:cNvSpPr txBox="1"/>
          <p:nvPr/>
        </p:nvSpPr>
        <p:spPr>
          <a:xfrm>
            <a:off x="6381750" y="435292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 i="0" u="none" strike="noStrike" cap="none" noProof="0" dirty="0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Effet Artistique</a:t>
            </a:r>
            <a:endParaRPr lang="fr-FR" noProof="0" dirty="0"/>
          </a:p>
        </p:txBody>
      </p:sp>
      <p:sp>
        <p:nvSpPr>
          <p:cNvPr id="222" name="Google Shape;222;p21"/>
          <p:cNvSpPr txBox="1"/>
          <p:nvPr/>
        </p:nvSpPr>
        <p:spPr>
          <a:xfrm>
            <a:off x="6381750" y="48157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 inversant les couleurs (contours noirs sur fond blanc), on obtient un effet "dessin au crayon" (sketch) esthétique.</a:t>
            </a:r>
            <a:endParaRPr lang="fr-FR" noProof="0" dirty="0"/>
          </a:p>
        </p:txBody>
      </p:sp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04925" y="2019300"/>
            <a:ext cx="37719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/>
        </p:nvSpPr>
        <p:spPr>
          <a:xfrm>
            <a:off x="295275" y="1735484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</a:t>
            </a:r>
            <a:endParaRPr lang="fr-FR" noProof="0" dirty="0"/>
          </a:p>
        </p:txBody>
      </p:sp>
      <p:sp>
        <p:nvSpPr>
          <p:cNvPr id="229" name="Google Shape;229;p22"/>
          <p:cNvSpPr/>
          <p:nvPr/>
        </p:nvSpPr>
        <p:spPr>
          <a:xfrm>
            <a:off x="5619750" y="2950815"/>
            <a:ext cx="952500" cy="571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3293715"/>
            <a:ext cx="7620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Pour ce projet, l'algorithme de </a:t>
            </a: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Canny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s'impose comme la solution la plus polyvalente et robuste, particulièrement pour les images naturelles. </a:t>
            </a:r>
            <a:br>
              <a:rPr lang="fr-FR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fr-FR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Cependant, </a:t>
            </a: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Sobel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reste pertinent pour des applications temps réel nécessitant simplement l'orientation des gradients, et le </a:t>
            </a:r>
            <a:r>
              <a:rPr lang="fr-FR" sz="1500" b="1" i="0" u="none" strike="noStrike" cap="none" noProof="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Laplacien</a:t>
            </a:r>
            <a:r>
              <a:rPr lang="fr-FR" sz="15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est utile pour détecter des changements brusques si l'image est parfaitement nette.</a:t>
            </a:r>
            <a:endParaRPr lang="fr-FR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/>
        </p:nvSpPr>
        <p:spPr>
          <a:xfrm>
            <a:off x="2785586" y="2054572"/>
            <a:ext cx="6620827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Démonstration &amp; Questions</a:t>
            </a:r>
            <a:endParaRPr lang="fr-FR" noProof="0"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3028950" y="3174652"/>
            <a:ext cx="6134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0" i="0" u="none" strike="noStrike" cap="none" noProof="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Passage à la présentation du code Python et démonstration en direct.</a:t>
            </a:r>
            <a:endParaRPr lang="fr-FR" noProof="0" dirty="0"/>
          </a:p>
        </p:txBody>
      </p:sp>
      <p:pic>
        <p:nvPicPr>
          <p:cNvPr id="237" name="Google Shape;23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3587" y="4127152"/>
            <a:ext cx="50482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/>
        </p:nvSpPr>
        <p:spPr>
          <a:xfrm>
            <a:off x="571500" y="571500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600" b="1" i="0" u="none" strike="noStrike" cap="none" noProof="0" dirty="0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 lang="fr-FR" noProof="0" dirty="0"/>
          </a:p>
        </p:txBody>
      </p:sp>
      <p:sp>
        <p:nvSpPr>
          <p:cNvPr id="243" name="Google Shape;243;p24"/>
          <p:cNvSpPr/>
          <p:nvPr/>
        </p:nvSpPr>
        <p:spPr>
          <a:xfrm>
            <a:off x="571500" y="1310580"/>
            <a:ext cx="11049000" cy="1905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571500" y="25251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571500" y="33099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571500" y="449088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52756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993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1666875" y="189279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https://media.geeksforgeeks.org/wp-content/uploads/20240616211411/Screenshot-(85).webp</a:t>
            </a:r>
            <a:endParaRPr lang="fr-FR" noProof="0" dirty="0"/>
          </a:p>
        </p:txBody>
      </p:sp>
      <p:sp>
        <p:nvSpPr>
          <p:cNvPr id="250" name="Google Shape;250;p24"/>
          <p:cNvSpPr txBox="1"/>
          <p:nvPr/>
        </p:nvSpPr>
        <p:spPr>
          <a:xfrm>
            <a:off x="1666875" y="213851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fr-FR" sz="1200" b="0" i="0" u="none" strike="noStrike" cap="none" noProof="0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www.geeksforgeeks.org</a:t>
            </a:r>
            <a:endParaRPr lang="fr-FR" noProof="0" dirty="0"/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841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1666875" y="2677566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https://www.mdpi.com/sensors/sensors-25-00087/article_deploy/html/images/sensors-25-00087-g001.png</a:t>
            </a:r>
            <a:endParaRPr lang="fr-FR" noProof="0" dirty="0"/>
          </a:p>
        </p:txBody>
      </p:sp>
      <p:sp>
        <p:nvSpPr>
          <p:cNvPr id="253" name="Google Shape;253;p24"/>
          <p:cNvSpPr txBox="1"/>
          <p:nvPr/>
        </p:nvSpPr>
        <p:spPr>
          <a:xfrm>
            <a:off x="1666875" y="292328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fr-FR" sz="1200" b="0" i="0" u="none" strike="noStrike" cap="none" noProof="0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www.mdpi.com</a:t>
            </a:r>
            <a:endParaRPr lang="fr-FR" noProof="0" dirty="0"/>
          </a:p>
        </p:txBody>
      </p:sp>
      <p:pic>
        <p:nvPicPr>
          <p:cNvPr id="254" name="Google Shape;25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66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1666875" y="3462337"/>
            <a:ext cx="9953625" cy="594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mg1.daumcdn.net/thumb/R800x0/?scode=mtistory2&amp;fname=https%3A%2F%2Fblog.kakaocdn.net%2Fdna%2FcdeKYE%2FbtsKhBioRkw%2FAAAAAAAAAAAAAAAAAAAAAJa6mZEjAt81Myu-Pqhrjm1PExW5SINCK06i4MgC_8CS%2Fimg.png%3Fcredential%3DyqXZFxpELC7KVnFOS48ylbz2pIh7yKj8%26expires%3D1764514799%26allow_ip%3D%26allow_referer%3D%26signature%3D7qI81P0wmtySSJhAc%252Bjue%252FbkBuo%253D</a:t>
            </a:r>
            <a:endParaRPr lang="fr-FR" noProof="0"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1666875" y="410423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fr-FR" sz="1200" b="0" i="0" u="none" strike="noStrike" cap="none" noProof="0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en.codingwalks.com</a:t>
            </a:r>
            <a:endParaRPr lang="fr-FR" noProof="0" dirty="0"/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49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 txBox="1"/>
          <p:nvPr/>
        </p:nvSpPr>
        <p:spPr>
          <a:xfrm>
            <a:off x="1666875" y="464328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https://homepages.inf.ed.ac.uk/rbf/HIPR2/figs/sobmasks.gif</a:t>
            </a:r>
            <a:endParaRPr lang="fr-FR" noProof="0" dirty="0"/>
          </a:p>
        </p:txBody>
      </p:sp>
      <p:sp>
        <p:nvSpPr>
          <p:cNvPr id="259" name="Google Shape;259;p24"/>
          <p:cNvSpPr txBox="1"/>
          <p:nvPr/>
        </p:nvSpPr>
        <p:spPr>
          <a:xfrm>
            <a:off x="1666875" y="488900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fr-FR" sz="1200" b="0" i="0" u="none" strike="noStrike" cap="none" noProof="0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homepages.inf.ed.ac.uk</a:t>
            </a:r>
            <a:endParaRPr lang="fr-FR" noProof="0" dirty="0"/>
          </a:p>
        </p:txBody>
      </p:sp>
      <p:pic>
        <p:nvPicPr>
          <p:cNvPr id="260" name="Google Shape;260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54346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666875" y="542805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75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https://it.emcelettronica.com/wp-content/uploads/2020/03/Figura-2-Mele-filtrate-1024x608.jpg</a:t>
            </a:r>
            <a:endParaRPr lang="fr-FR" noProof="0" dirty="0"/>
          </a:p>
        </p:txBody>
      </p:sp>
      <p:sp>
        <p:nvSpPr>
          <p:cNvPr id="262" name="Google Shape;262;p24"/>
          <p:cNvSpPr txBox="1"/>
          <p:nvPr/>
        </p:nvSpPr>
        <p:spPr>
          <a:xfrm>
            <a:off x="1666875" y="567377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0" i="0" u="none" strike="noStrike" cap="none" noProof="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fr-FR" sz="1200" b="0" i="0" u="none" strike="noStrike" cap="none" noProof="0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it.emcelettronica.com</a:t>
            </a:r>
            <a:endParaRPr lang="fr-FR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828</Words>
  <Application>Microsoft Office PowerPoint</Application>
  <PresentationFormat>Grand écran</PresentationFormat>
  <Paragraphs>105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Merriweather</vt:lpstr>
      <vt:lpstr>DM Sans</vt:lpstr>
      <vt:lpstr>Calibri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Fiona Ponto</cp:lastModifiedBy>
  <cp:revision>1</cp:revision>
  <dcterms:modified xsi:type="dcterms:W3CDTF">2025-11-26T15:36:05Z</dcterms:modified>
</cp:coreProperties>
</file>